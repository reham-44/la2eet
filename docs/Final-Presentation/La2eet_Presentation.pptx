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75" r:id="rId5"/>
    <p:sldId id="257" r:id="rId6"/>
    <p:sldId id="262" r:id="rId7"/>
    <p:sldId id="263" r:id="rId8"/>
    <p:sldId id="276" r:id="rId9"/>
    <p:sldId id="264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00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206240" cy="420624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ar-EG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</a:rPr>
              <a:t>لقيت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La2eet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41248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Lost &amp; Found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41248" y="3977640"/>
            <a:ext cx="2194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2062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ASP.NET Core MVC web app that helps people report lost items, post found items, and reconnect through a verified claim process.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  •   Entity Framework Core   •   SignalR   •   SQL Server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  •   Supervised by Dr. Omnia Abdelhamid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something in Egypt today means guessing where to even start looking.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423160"/>
            <a:ext cx="914400" cy="91440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face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6243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Facebook groups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get buried within hours; no city or category filters.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423160"/>
            <a:ext cx="914400" cy="91440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whatsap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603084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chains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forwarded group to group with no record or search.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0116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64040" y="2423160"/>
            <a:ext cx="914400" cy="91440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pos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2615184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posters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4206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reach, no way to verify a claimant is the real owner.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found items never reach their owners, and owners have no trustworthy way to prove a claim.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Laqeet centralizes lost &amp; found reporting into one verified, searchable platform — replacing scattered posts with structured, moderated reports.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25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governorates covered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93592" y="4160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4325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30752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64224" y="4160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4325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01384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User &amp; Admin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4160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4856" y="4325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72016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finder ↔ claimant chat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people who lose things — and the places that host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shiel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</a:rPr>
              <a:t>Individuals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who loses or finds personal belongings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2951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671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universities and schools — keep books, devices, and study </a:t>
            </a:r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cs typeface="Calibri" pitchFamily="34" charset="-120"/>
              </a:rPr>
              <a:t>supplies recoverable.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66928" cy="566928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5354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07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&amp; Organizations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6012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Offices, universities, institutions managing lost &amp; found services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07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Places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83680" y="5120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Malls, cafés, and parks — partnerships that serve their visitors.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essentials, before we dive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platform that reconnects lost items with their owners.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2951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671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students, public places as Clubs, Malls, Cafes, Gyms, </a:t>
            </a:r>
          </a:p>
          <a:p>
            <a:pPr>
              <a:lnSpc>
                <a:spcPct val="125000"/>
              </a:lnSpc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cs typeface="Calibri" pitchFamily="34" charset="-120"/>
              </a:rPr>
              <a:t>Metro – high traffic place to lose things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89120"/>
            <a:ext cx="566928" cy="566928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5354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07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60120" y="5120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 •  Claims  •  Verification  •  Real-time Chat  •  Admin Moderation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8912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icons/serv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5354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07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83680" y="51206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 •  EF Core  •  SQL Server  •  SignalR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1061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wallet, start to finish.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197510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lost his wallet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7752" y="2487168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182880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84448" y="197510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55464" y="2487168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4064" y="182880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0" y="197510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23176" y="2487168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1776" y="182880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197510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21" name="Text 19"/>
          <p:cNvSpPr/>
          <p:nvPr/>
        </p:nvSpPr>
        <p:spPr>
          <a:xfrm>
            <a:off x="8119872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88936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submits a Found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390888" y="2487168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9619488" y="182880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87584" y="197510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26" name="Text 24"/>
          <p:cNvSpPr/>
          <p:nvPr/>
        </p:nvSpPr>
        <p:spPr>
          <a:xfrm>
            <a:off x="10387584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56648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both reports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handoff, backed by a paper trail at every step.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19488" y="415497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87584" y="4301282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7584" y="430128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56648" y="486821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recognizes the wallet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87613" y="4155625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34" name="Shape 32"/>
          <p:cNvSpPr/>
          <p:nvPr/>
        </p:nvSpPr>
        <p:spPr>
          <a:xfrm>
            <a:off x="8155709" y="4301929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35" name="Text 33"/>
          <p:cNvSpPr/>
          <p:nvPr/>
        </p:nvSpPr>
        <p:spPr>
          <a:xfrm>
            <a:off x="8155709" y="4301929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24773" y="4868857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verification questions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16200000" flipH="1">
            <a:off x="9426725" y="4813993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84064" y="4160520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2160" y="4306824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221224" y="48737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approved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rot="16200000" flipH="1">
            <a:off x="7205472" y="4818888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3" name="Shape 41"/>
          <p:cNvSpPr/>
          <p:nvPr/>
        </p:nvSpPr>
        <p:spPr>
          <a:xfrm>
            <a:off x="2816352" y="4105656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3F7FC"/>
          </a:solidFill>
          <a:ln/>
        </p:spPr>
      </p:sp>
      <p:sp>
        <p:nvSpPr>
          <p:cNvPr id="44" name="Shape 42"/>
          <p:cNvSpPr/>
          <p:nvPr/>
        </p:nvSpPr>
        <p:spPr>
          <a:xfrm>
            <a:off x="3584448" y="4251960"/>
            <a:ext cx="475488" cy="475488"/>
          </a:xfrm>
          <a:prstGeom prst="ellipse">
            <a:avLst/>
          </a:prstGeom>
          <a:solidFill>
            <a:srgbClr val="0B4F8C"/>
          </a:solidFill>
          <a:ln/>
        </p:spPr>
      </p:sp>
      <p:sp>
        <p:nvSpPr>
          <p:cNvPr id="45" name="Text 43"/>
          <p:cNvSpPr/>
          <p:nvPr/>
        </p:nvSpPr>
        <p:spPr>
          <a:xfrm>
            <a:off x="3584448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2953512" y="48188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opens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 rot="16200000" flipH="1">
            <a:off x="4910698" y="4811499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413308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0B4F8C"/>
          </a:solidFill>
          <a:ln/>
        </p:spPr>
      </p:sp>
      <p:sp>
        <p:nvSpPr>
          <p:cNvPr id="49" name="Shape 47"/>
          <p:cNvSpPr/>
          <p:nvPr/>
        </p:nvSpPr>
        <p:spPr>
          <a:xfrm>
            <a:off x="1316736" y="427939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1316736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85800" y="4846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returned</a:t>
            </a:r>
            <a:endParaRPr lang="en-US" sz="1100" dirty="0"/>
          </a:p>
        </p:txBody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2323BE03-6189-546E-D3C1-DDF170FDA66E}"/>
              </a:ext>
            </a:extLst>
          </p:cNvPr>
          <p:cNvSpPr>
            <a:spLocks/>
          </p:cNvSpPr>
          <p:nvPr/>
        </p:nvSpPr>
        <p:spPr>
          <a:xfrm rot="16200000">
            <a:off x="2665291" y="4810851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64" name="Shape 50">
            <a:extLst>
              <a:ext uri="{FF2B5EF4-FFF2-40B4-BE49-F238E27FC236}">
                <a16:creationId xmlns:a16="http://schemas.microsoft.com/office/drawing/2014/main" id="{D495C11C-6188-0A4E-C1CB-FED1F84572BE}"/>
              </a:ext>
            </a:extLst>
          </p:cNvPr>
          <p:cNvSpPr/>
          <p:nvPr/>
        </p:nvSpPr>
        <p:spPr>
          <a:xfrm>
            <a:off x="10625328" y="3310128"/>
            <a:ext cx="0" cy="850392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66" name="Shape 51">
            <a:extLst>
              <a:ext uri="{FF2B5EF4-FFF2-40B4-BE49-F238E27FC236}">
                <a16:creationId xmlns:a16="http://schemas.microsoft.com/office/drawing/2014/main" id="{0721C0EA-1439-AFF6-BA99-AD71C154B0FF}"/>
              </a:ext>
            </a:extLst>
          </p:cNvPr>
          <p:cNvSpPr/>
          <p:nvPr/>
        </p:nvSpPr>
        <p:spPr>
          <a:xfrm rot="10800000">
            <a:off x="10543032" y="4014216"/>
            <a:ext cx="164592" cy="164592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B00C9142-07DA-C731-41C9-2C549E055AAA}"/>
              </a:ext>
            </a:extLst>
          </p:cNvPr>
          <p:cNvSpPr/>
          <p:nvPr/>
        </p:nvSpPr>
        <p:spPr>
          <a:xfrm>
            <a:off x="5221224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submits a Lost report</a:t>
            </a:r>
            <a:endParaRPr lang="en-US" sz="1100" dirty="0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B74B21F6-7DBA-D482-84CC-C795AF5F120F}"/>
              </a:ext>
            </a:extLst>
          </p:cNvPr>
          <p:cNvSpPr/>
          <p:nvPr/>
        </p:nvSpPr>
        <p:spPr>
          <a:xfrm>
            <a:off x="2953512" y="254117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finds the wallet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029200" cy="502920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— searchable, bilingual, and built for trust.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979676" y="1874520"/>
            <a:ext cx="8229600" cy="4144669"/>
          </a:xfrm>
          <a:prstGeom prst="roundRect">
            <a:avLst>
              <a:gd name="adj" fmla="val 1324"/>
            </a:avLst>
          </a:prstGeom>
          <a:solidFill>
            <a:srgbClr val="0E3A66"/>
          </a:solidFill>
          <a:ln/>
          <a:effectLst>
            <a:outerShdw blurRad="228600" dist="76200" dir="5400000" algn="bl" rotWithShape="0">
              <a:srgbClr val="05203D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25980" y="1975104"/>
            <a:ext cx="82296" cy="82296"/>
          </a:xfrm>
          <a:prstGeom prst="ellipse">
            <a:avLst/>
          </a:prstGeom>
          <a:solidFill>
            <a:srgbClr val="F15B50"/>
          </a:solidFill>
          <a:ln/>
        </p:spPr>
      </p:sp>
      <p:sp>
        <p:nvSpPr>
          <p:cNvPr id="7" name="Shape 5"/>
          <p:cNvSpPr/>
          <p:nvPr/>
        </p:nvSpPr>
        <p:spPr>
          <a:xfrm>
            <a:off x="2272284" y="19751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2418588" y="1975104"/>
            <a:ext cx="82296" cy="82296"/>
          </a:xfrm>
          <a:prstGeom prst="ellipse">
            <a:avLst/>
          </a:prstGeom>
          <a:solidFill>
            <a:srgbClr val="3FB871"/>
          </a:solidFill>
          <a:ln/>
        </p:spPr>
      </p:sp>
      <p:sp>
        <p:nvSpPr>
          <p:cNvPr id="9" name="Shape 7"/>
          <p:cNvSpPr/>
          <p:nvPr/>
        </p:nvSpPr>
        <p:spPr>
          <a:xfrm>
            <a:off x="2711196" y="1929384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0A2E52"/>
          </a:solidFill>
          <a:ln/>
        </p:spPr>
      </p:sp>
      <p:sp>
        <p:nvSpPr>
          <p:cNvPr id="10" name="Text 8"/>
          <p:cNvSpPr/>
          <p:nvPr/>
        </p:nvSpPr>
        <p:spPr>
          <a:xfrm>
            <a:off x="2839212" y="1929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r>
              <a:rPr lang="ar-EG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eet.eg</a:t>
            </a:r>
            <a:endParaRPr lang="en-US" sz="900" dirty="0"/>
          </a:p>
        </p:txBody>
      </p:sp>
      <p:pic>
        <p:nvPicPr>
          <p:cNvPr id="11" name="Image 0" descr="/home/claude/homepag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157984"/>
            <a:ext cx="8229600" cy="38520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6183781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UI, live search, and trust badges — right on the landing page.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surfaces real platform activity the moment it happens.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char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counters for total users, active reports, and successful recoveries.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clai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25054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Governorates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Egyptian governorates supported, front and center in Arabic.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072884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5054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Recovered Items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9944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tally of successful handoffs builds visible momentum and trust.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843516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1" name="Image 3" descr="/home/claude/icons/excel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7252" y="25054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Listings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80576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admin-approved reports ever reach the homepage — no spam, no noise.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updates live as new reports, claims, and recoveries happen across Egypt.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Accounts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ASP.NET Core Identity, with security hardened at every step.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93392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sign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56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Identity model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0" y="185623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FullName, Phone, IsVerified, IsBanned, Role, CreatedAt, with USER / ADMIN role-based access.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163824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310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login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29200" y="302666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rules (8+ chars, mixed case, digit) and lockout after 5 failed attempts for 5 minutes.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2394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34256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envelop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4805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970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verification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29200" y="41970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start unconfirmed; a mailed confirmation link (SMTP EmailService) activates the account before login.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29437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5504688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1" name="Image 3" descr="/home/claude/icons/goog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65099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sign-in &amp; password reset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29200" y="53675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login via Google, plus a real Identity reset-token flow for forgotten passwords.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gets a public history, editable details, and an admin-level 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93392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use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56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at a glance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0" y="185623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verification badge, and member-since date, plus live stats: total reports, resolved reports, and total claims.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163824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lo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310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026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claim history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29200" y="302666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 user has posted and every claim they've made surface right on their profile page.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2394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34256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user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4805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1970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 details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29200" y="419709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edit form lets users update their full name and phone number anytime, validated server-side.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29437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5504688"/>
            <a:ext cx="585216" cy="58521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1" name="Image 3" descr="/home/claude/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65099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view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29200" y="53675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open a dedicated profile view for any user, with ban status visible at a glance.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&amp; Found Reports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800600"/>
          </a:xfrm>
          <a:prstGeom prst="roundRect">
            <a:avLst>
              <a:gd name="adj" fmla="val 2286"/>
            </a:avLst>
          </a:prstGeom>
          <a:solidFill>
            <a:srgbClr val="F3F7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5" name="Image 0" descr="/home/claude/icons/lo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report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60604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Lost or Found, pre-filled from a ?type= query parameter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city (all 27 governorates, Arabic names), location, date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photo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report starts as Pending — hidden until an admin approves it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approved items in the same city are auto-matched on shared title/description keywords and shown on the details page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371600"/>
            <a:ext cx="5440680" cy="4800600"/>
          </a:xfrm>
          <a:prstGeom prst="roundRect">
            <a:avLst>
              <a:gd name="adj" fmla="val 2286"/>
            </a:avLst>
          </a:prstGeom>
          <a:solidFill>
            <a:srgbClr val="0B4F8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1" descr="/home/claude/icons/user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8470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Questions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0" y="26060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posting a Found item, the finder can attach custom questions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“What's inside the wallet?”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 item and surfaced to anyone who later submits a claim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Claimants must answer every question correctly before a claim can proceed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Claims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match into a verified handoff.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513332" y="2423160"/>
            <a:ext cx="768096" cy="76809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606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12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a match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browses approved reports and recognizes their item.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5400000">
            <a:off x="3172968" y="3584448"/>
            <a:ext cx="201168" cy="201168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2" name="Shape 9"/>
          <p:cNvSpPr/>
          <p:nvPr/>
        </p:nvSpPr>
        <p:spPr>
          <a:xfrm>
            <a:off x="4283964" y="2423160"/>
            <a:ext cx="768096" cy="76809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3" name="Image 1" descr="/home/claude/icons/qm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60604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212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93592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&amp; submit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39312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the verification question(s) and submit a claim (can't claim their own report).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 rot="5400000">
            <a:off x="5943600" y="3584448"/>
            <a:ext cx="201168" cy="201168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18" name="Shape 14"/>
          <p:cNvSpPr/>
          <p:nvPr/>
        </p:nvSpPr>
        <p:spPr>
          <a:xfrm>
            <a:off x="6181344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9" name="Shape 15"/>
          <p:cNvSpPr/>
          <p:nvPr/>
        </p:nvSpPr>
        <p:spPr>
          <a:xfrm>
            <a:off x="7054596" y="2423160"/>
            <a:ext cx="768096" cy="76809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0" name="Image 2" descr="/home/claude/icons/clai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260604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18504" y="2212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64224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Reporter reviews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09944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reporter checks the answers on their Claims dashboard.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 rot="5400000">
            <a:off x="8714232" y="3584448"/>
            <a:ext cx="201168" cy="201168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8951976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26" name="Shape 21"/>
          <p:cNvSpPr/>
          <p:nvPr/>
        </p:nvSpPr>
        <p:spPr>
          <a:xfrm>
            <a:off x="9825228" y="2423160"/>
            <a:ext cx="768096" cy="768096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7" name="Image 3" descr="/home/claude/icons/handshak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8108" y="2606040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89136" y="2212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34856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or reject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180576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claims open live chat to arrange return; rejected ones stay logged.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personal dashboards keep it organized: My Claims (submitted) and Incoming Claims (received).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2070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and claimant connect instantly, without leaving Laqeet.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icons/bolt_0B4F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939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SignalR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ChatHub.cs mapped at /chatHub broadcasts SendMessage / ReceiveMessage instantly.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2990088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1" descr="/home/claude/icons/database_0B4F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181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44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Persisted history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28269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(sender, receiver, item, content, timestamp) is saved to the database.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01421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/home/claude/icons/shield_0B4F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14223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9684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 one item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3068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stay tied to the specific item both users are discussing.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" y="503834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/home/claude/icons/ban_0B4F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16636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9926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on resolution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508760" y="533095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an item Returned fires a ChatClosed event and locks the thread for both sides.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909560" y="1737360"/>
            <a:ext cx="3657600" cy="4480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5203D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138160" y="2011680"/>
            <a:ext cx="2194560" cy="502920"/>
          </a:xfrm>
          <a:prstGeom prst="roundRect">
            <a:avLst>
              <a:gd name="adj" fmla="val 50909"/>
            </a:avLst>
          </a:prstGeom>
          <a:solidFill>
            <a:srgbClr val="F3F7FC"/>
          </a:solidFill>
          <a:ln/>
        </p:spPr>
      </p:sp>
      <p:sp>
        <p:nvSpPr>
          <p:cNvPr id="23" name="Text 17"/>
          <p:cNvSpPr/>
          <p:nvPr/>
        </p:nvSpPr>
        <p:spPr>
          <a:xfrm>
            <a:off x="82753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Ahmed: Is the wallet black leather?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326880" y="265176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0B4F8C"/>
          </a:solidFill>
          <a:ln/>
        </p:spPr>
      </p:sp>
      <p:sp>
        <p:nvSpPr>
          <p:cNvPr id="25" name="Text 19"/>
          <p:cNvSpPr/>
          <p:nvPr/>
        </p:nvSpPr>
        <p:spPr>
          <a:xfrm>
            <a:off x="946404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With a torn inside pocket.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138160" y="329184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F3F7FC"/>
          </a:solidFill>
          <a:ln/>
        </p:spPr>
      </p:sp>
      <p:sp>
        <p:nvSpPr>
          <p:cNvPr id="27" name="Text 21"/>
          <p:cNvSpPr/>
          <p:nvPr/>
        </p:nvSpPr>
        <p:spPr>
          <a:xfrm>
            <a:off x="8275320" y="3291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Great, let's meet today.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138160" y="4069080"/>
            <a:ext cx="3200400" cy="0"/>
          </a:xfrm>
          <a:prstGeom prst="line">
            <a:avLst/>
          </a:prstGeom>
          <a:noFill/>
          <a:ln w="19050">
            <a:solidFill>
              <a:srgbClr val="F3F7F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418320" y="4343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0" name="Image 4" descr="/home/claude/icons/handshak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448970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381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marked as Returned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13816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closed for both sides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moderation and oversight, restricted to the Admin role.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metrics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reports, lost vs. found counts, active claims, and a per-city breakdown at a glance.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clai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25054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queue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pending reports before they reach the public browse page.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81344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072884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ba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5054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control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9944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abusive users directly from the dashboard to keep the platform trustworthy.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5197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3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843516" y="2331720"/>
            <a:ext cx="731520" cy="73152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1" name="Image 3" descr="/home/claude/icons/excel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7252" y="250545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export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80576" y="39319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all reports to .xlsx via ClosedXML, with Arabic column headers.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also monitor all platform activity end-to-end — reports, claims, users, and messaging.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server-rendered .NET stack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MVC (.NET 9)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Razor views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+ SQL Server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data access &amp; migrations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03120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240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57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Identity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plus Google external login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icons/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43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finder ↔ claimant chat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6" name="Image 4" descr="/home/claude/icons/envelop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3434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MailKit SMTP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confirmation &amp; reset emails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06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5" descr="/home/claude/icons/exce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3434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ClosedXML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5029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Arabic-labeled Excel report exports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entities capture the full lost-and-found lifecycle.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0B4F8C"/>
          </a:solidFill>
          <a:ln/>
        </p:spPr>
      </p:sp>
      <p:sp>
        <p:nvSpPr>
          <p:cNvPr id="5" name="Shape 3"/>
          <p:cNvSpPr/>
          <p:nvPr/>
        </p:nvSpPr>
        <p:spPr>
          <a:xfrm>
            <a:off x="1353312" y="22402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icons/sign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3774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34290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ASP.NET Identity — full name, phone, verification/ban flags, role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852928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0B4F8C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22402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icons/los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377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17520" y="34290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lost/found report, linked to its owner, questions, claims, and messages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065776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0B4F8C"/>
          </a:solidFill>
          <a:ln/>
        </p:spPr>
      </p:sp>
      <p:sp>
        <p:nvSpPr>
          <p:cNvPr id="15" name="Shape 11"/>
          <p:cNvSpPr/>
          <p:nvPr/>
        </p:nvSpPr>
        <p:spPr>
          <a:xfrm>
            <a:off x="5779008" y="22402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home/claude/icons/clai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3774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30368" y="34290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user's claim on an item, with their verification answer and approval status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278624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0B4F8C"/>
          </a:solidFill>
          <a:ln/>
        </p:spPr>
      </p:sp>
      <p:sp>
        <p:nvSpPr>
          <p:cNvPr id="20" name="Shape 15"/>
          <p:cNvSpPr/>
          <p:nvPr/>
        </p:nvSpPr>
        <p:spPr>
          <a:xfrm>
            <a:off x="7991856" y="22402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icons/qmar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23774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VerificationQuestion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43216" y="34290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 found-item report, used to vet claimants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9491472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0B4F8C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04704" y="2240280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4" descr="/home/claude/icons/cha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237744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82912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56064" y="342900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between two users about a specific item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enums: </a:t>
            </a:r>
            <a:r>
              <a:rPr lang="en-US" sz="1150" i="1" dirty="0" err="1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ItemStatus</a:t>
            </a:r>
            <a:r>
              <a:rPr lang="en-US" sz="1150" i="1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(Lost / Found / Returned)   •   ReportStatus (Pending / Approved / Rejected)   •   ClaimStatus   •   Role   •   City (27 governorates)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3F7FC"/>
          </a:solidFill>
          <a:ln/>
        </p:spPr>
      </p:sp>
      <p:sp>
        <p:nvSpPr>
          <p:cNvPr id="31" name="Text 24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Repository → Service → Controller, with EF Core fluent configuration per entity.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trickiest parts weren't the features — they were the trust and lifecycle rules behind them.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3F7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66544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6" name="Image 0" descr="/home/claude/icons/qm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037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938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1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claim without giving away the answer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80760" y="1929384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questions are surfaced to claimants, but matching is enforced server-side — a finder's answer is never exposed up front.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95351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145536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1" name="Image 1" descr="/home/claude/icons/ba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82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0083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1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that needs to end cleanly for both people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080760" y="300837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an item Returned fires a ChatClosed SignalR event, locking the thread for both finder and claimant at once.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325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3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24528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16" name="Image 2" descr="/home/claude/icons/clai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616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873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1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spam and false reports off the public feed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080760" y="408736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report starts Pending and only reaches Browse after an admin approves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11149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B4F8C"/>
          </a:solidFill>
          <a:ln/>
        </p:spPr>
      </p:sp>
      <p:pic>
        <p:nvPicPr>
          <p:cNvPr id="21" name="Image 3" descr="/home/claude/icons/cod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440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16636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</a:t>
            </a:r>
            <a:r>
              <a:rPr lang="en-US" sz="115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codebase that was getting hard to extend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080760" y="516636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</a:t>
            </a:r>
            <a:r>
              <a:rPr lang="en-US" sz="1150" dirty="0">
                <a:solidFill>
                  <a:srgbClr val="5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into a layered Repository → Service → Controller architecture for cleaner separation of concerns.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206240" cy="420624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28534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directions to take Laqeet further.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29477" y="4304131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306718" y="4285843"/>
            <a:ext cx="2583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700" b="1" dirty="0"/>
          </a:p>
        </p:txBody>
      </p:sp>
      <p:sp>
        <p:nvSpPr>
          <p:cNvPr id="9" name="Text 6"/>
          <p:cNvSpPr/>
          <p:nvPr/>
        </p:nvSpPr>
        <p:spPr>
          <a:xfrm>
            <a:off x="1314336" y="4669891"/>
            <a:ext cx="4625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Extend La2eet to mobile application for a faster, easier, on-the-go experience.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7097" y="24363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icons/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7" y="25734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4337" y="2418048"/>
            <a:ext cx="30924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and Claim notifications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314337" y="2802096"/>
            <a:ext cx="42976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Receive instant notifications for new chat messages and claim status updates.</a:t>
            </a:r>
            <a:endParaRPr lang="en-US" sz="1300" dirty="0"/>
          </a:p>
        </p:txBody>
      </p:sp>
      <p:pic>
        <p:nvPicPr>
          <p:cNvPr id="37" name="Image 1" descr="Smart Phone with solid fill">
            <a:extLst>
              <a:ext uri="{FF2B5EF4-FFF2-40B4-BE49-F238E27FC236}">
                <a16:creationId xmlns:a16="http://schemas.microsoft.com/office/drawing/2014/main" id="{28C66F34-9878-8FC3-FDC9-ED5859C4A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5159" y="4393362"/>
            <a:ext cx="357276" cy="357276"/>
          </a:xfrm>
          <a:prstGeom prst="rect">
            <a:avLst/>
          </a:prstGeom>
        </p:spPr>
      </p:pic>
      <p:sp>
        <p:nvSpPr>
          <p:cNvPr id="75" name="Shape 7">
            <a:extLst>
              <a:ext uri="{FF2B5EF4-FFF2-40B4-BE49-F238E27FC236}">
                <a16:creationId xmlns:a16="http://schemas.microsoft.com/office/drawing/2014/main" id="{3DE1BA88-EC2A-B6AC-6F2B-7202501B75D3}"/>
              </a:ext>
            </a:extLst>
          </p:cNvPr>
          <p:cNvSpPr/>
          <p:nvPr/>
        </p:nvSpPr>
        <p:spPr>
          <a:xfrm>
            <a:off x="6666321" y="244199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9B6661FC-6050-FE15-728A-2DFD3E6A4914}"/>
              </a:ext>
            </a:extLst>
          </p:cNvPr>
          <p:cNvSpPr/>
          <p:nvPr/>
        </p:nvSpPr>
        <p:spPr>
          <a:xfrm>
            <a:off x="7443561" y="2423702"/>
            <a:ext cx="5676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and University Partnership</a:t>
            </a:r>
            <a:endParaRPr lang="en-US" sz="1700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E7A18B7F-1B18-FD81-9E8E-83B7BAF11283}"/>
              </a:ext>
            </a:extLst>
          </p:cNvPr>
          <p:cNvSpPr/>
          <p:nvPr/>
        </p:nvSpPr>
        <p:spPr>
          <a:xfrm>
            <a:off x="7443561" y="2807750"/>
            <a:ext cx="47054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malls and universities to create trusted lost &amp; found hubs and increase community reach.</a:t>
            </a:r>
            <a:endParaRPr lang="en-US" sz="1300" dirty="0"/>
          </a:p>
        </p:txBody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873FD8DB-C0F2-8A52-757F-8836F892F082}"/>
              </a:ext>
            </a:extLst>
          </p:cNvPr>
          <p:cNvSpPr/>
          <p:nvPr/>
        </p:nvSpPr>
        <p:spPr>
          <a:xfrm>
            <a:off x="6675742" y="4301425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DC8D2833-E9A5-536C-BF32-FFBA188BD6F6}"/>
              </a:ext>
            </a:extLst>
          </p:cNvPr>
          <p:cNvSpPr/>
          <p:nvPr/>
        </p:nvSpPr>
        <p:spPr>
          <a:xfrm>
            <a:off x="7452982" y="4283137"/>
            <a:ext cx="5676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Privacy</a:t>
            </a:r>
            <a:endParaRPr lang="en-US" sz="1700" dirty="0"/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B8467F3C-CA2F-8ED5-328A-7985D86BF28B}"/>
              </a:ext>
            </a:extLst>
          </p:cNvPr>
          <p:cNvSpPr/>
          <p:nvPr/>
        </p:nvSpPr>
        <p:spPr>
          <a:xfrm>
            <a:off x="7452982" y="4667185"/>
            <a:ext cx="42976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stronger data protection, and granular privacy controls.</a:t>
            </a:r>
            <a:endParaRPr lang="en-US" sz="1300" dirty="0"/>
          </a:p>
        </p:txBody>
      </p:sp>
      <p:pic>
        <p:nvPicPr>
          <p:cNvPr id="91" name="Image 2" descr="Lock with solid fill">
            <a:extLst>
              <a:ext uri="{FF2B5EF4-FFF2-40B4-BE49-F238E27FC236}">
                <a16:creationId xmlns:a16="http://schemas.microsoft.com/office/drawing/2014/main" id="{3B666343-6C35-7768-C8DC-53BF77F06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763740" y="4372835"/>
            <a:ext cx="368038" cy="368038"/>
          </a:xfrm>
          <a:prstGeom prst="rect">
            <a:avLst/>
          </a:prstGeom>
        </p:spPr>
      </p:pic>
      <p:pic>
        <p:nvPicPr>
          <p:cNvPr id="111" name="Image 2" descr="Bank with solid fill">
            <a:extLst>
              <a:ext uri="{FF2B5EF4-FFF2-40B4-BE49-F238E27FC236}">
                <a16:creationId xmlns:a16="http://schemas.microsoft.com/office/drawing/2014/main" id="{4571F991-9394-34C4-40B1-6EAB78383E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763028" y="2513008"/>
            <a:ext cx="365218" cy="36521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4F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937760" cy="4937760"/>
          </a:xfrm>
          <a:prstGeom prst="ellipse">
            <a:avLst/>
          </a:prstGeom>
          <a:solidFill>
            <a:srgbClr val="116DB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206240" cy="420624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five people who believed lost things deserve a better way home.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381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76756" y="2350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476756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0632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Osama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6265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5596" y="2350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25596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35808" y="30632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Reham Abdelrahman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1149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4436" y="2350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30632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Rashad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0917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72116" y="2350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72116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82328" y="30632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 Alaa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41248" y="5166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github.com/Malak-Rashad/LostAndFound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6033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16DBF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3276" y="235000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923276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33488" y="306324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Eid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1627</Words>
  <Application>Microsoft Office PowerPoint</Application>
  <PresentationFormat>Widescreen</PresentationFormat>
  <Paragraphs>236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Reham Abdelrahman</cp:lastModifiedBy>
  <cp:revision>5</cp:revision>
  <dcterms:created xsi:type="dcterms:W3CDTF">2026-07-14T11:25:49Z</dcterms:created>
  <dcterms:modified xsi:type="dcterms:W3CDTF">2026-07-15T02:36:25Z</dcterms:modified>
</cp:coreProperties>
</file>